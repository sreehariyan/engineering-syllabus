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5D7FE-0255-478D-883A-656796E4632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1ABA7-C2F4-47ED-A4C1-B08864352F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0C501-9FAB-4BC7-8A73-D043DDCE494C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5534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FF0000"/>
                </a:solidFill>
              </a:rPr>
              <a:t>CMOS logic gate concept: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1800" dirty="0" smtClean="0"/>
              <a:t>1</a:t>
            </a:r>
            <a:r>
              <a:rPr lang="en-GB" sz="1800" dirty="0"/>
              <a:t>. </a:t>
            </a:r>
            <a:r>
              <a:rPr lang="en-GB" sz="1800" b="1" dirty="0">
                <a:solidFill>
                  <a:srgbClr val="00B050"/>
                </a:solidFill>
              </a:rPr>
              <a:t>Common CMOS logic gates include:</a:t>
            </a:r>
          </a:p>
          <a:p>
            <a:pPr marL="0" indent="0" algn="just">
              <a:buNone/>
            </a:pPr>
            <a:r>
              <a:rPr lang="en-GB" sz="1800" b="1" dirty="0"/>
              <a:t>1. Inverter - </a:t>
            </a:r>
            <a:r>
              <a:rPr lang="en-GB" sz="1800" dirty="0"/>
              <a:t>Uses one pMOS and one nMOS transistor.</a:t>
            </a:r>
          </a:p>
          <a:p>
            <a:pPr marL="0" indent="0" algn="just">
              <a:buNone/>
            </a:pPr>
            <a:r>
              <a:rPr lang="en-GB" sz="1800" b="1" dirty="0"/>
              <a:t>2. NAND Gate - </a:t>
            </a:r>
            <a:r>
              <a:rPr lang="en-GB" sz="1800" dirty="0"/>
              <a:t>Uses two pMOS transistors in parallel and two nMOS transistors in series.</a:t>
            </a:r>
          </a:p>
          <a:p>
            <a:pPr marL="0" indent="0" algn="just">
              <a:buNone/>
            </a:pPr>
            <a:r>
              <a:rPr lang="en-GB" sz="1800" b="1" dirty="0"/>
              <a:t>3. NOR Gate - </a:t>
            </a:r>
            <a:r>
              <a:rPr lang="en-GB" sz="1800" dirty="0"/>
              <a:t>Uses two pMOS transistors in series and two nMOS transistors in parallel. </a:t>
            </a:r>
          </a:p>
          <a:p>
            <a:pPr marL="0" indent="0" algn="just">
              <a:buNone/>
            </a:pPr>
            <a:r>
              <a:rPr lang="en-GB" sz="1800" b="1" dirty="0"/>
              <a:t>4. Complex gates </a:t>
            </a:r>
            <a:r>
              <a:rPr lang="en-GB" sz="1800" dirty="0"/>
              <a:t>like AND, OR, XOR can be constructed using combinations of NAND and NOR gates.</a:t>
            </a:r>
            <a:endParaRPr lang="en-IN" sz="1800" dirty="0"/>
          </a:p>
          <a:p>
            <a:pPr marL="0" indent="0">
              <a:buNone/>
            </a:pPr>
            <a:endParaRPr lang="en-GB" sz="1800" dirty="0" smtClean="0"/>
          </a:p>
          <a:p>
            <a:pPr marL="0" indent="0">
              <a:buNone/>
            </a:pPr>
            <a:r>
              <a:rPr lang="en-GB" sz="1800" b="1" dirty="0">
                <a:solidFill>
                  <a:srgbClr val="FF0000"/>
                </a:solidFill>
              </a:rPr>
              <a:t>Advantages of CMOS logic:</a:t>
            </a:r>
            <a:endParaRPr lang="en-GB" sz="1800" dirty="0" smtClean="0"/>
          </a:p>
          <a:p>
            <a:pPr marL="0" indent="0">
              <a:buNone/>
            </a:pPr>
            <a:r>
              <a:rPr lang="en-GB" sz="1800" smtClean="0"/>
              <a:t>1.Low </a:t>
            </a:r>
            <a:r>
              <a:rPr lang="en-GB" sz="1800" dirty="0"/>
              <a:t>power dissipation</a:t>
            </a:r>
          </a:p>
          <a:p>
            <a:pPr marL="0" indent="0">
              <a:buNone/>
            </a:pPr>
            <a:r>
              <a:rPr lang="en-GB" sz="1800" dirty="0"/>
              <a:t>2. High noise immunity </a:t>
            </a:r>
          </a:p>
          <a:p>
            <a:pPr marL="0" indent="0">
              <a:buNone/>
            </a:pPr>
            <a:r>
              <a:rPr lang="en-GB" sz="1800" dirty="0"/>
              <a:t>3. Wide range of operating voltages</a:t>
            </a:r>
          </a:p>
          <a:p>
            <a:pPr marL="0" indent="0">
              <a:buNone/>
            </a:pPr>
            <a:r>
              <a:rPr lang="en-GB" sz="1800" dirty="0"/>
              <a:t>4. Easy to manufacture and scale</a:t>
            </a:r>
          </a:p>
          <a:p>
            <a:endParaRPr lang="en-GB" sz="1800" dirty="0"/>
          </a:p>
          <a:p>
            <a:pPr marL="0" indent="0">
              <a:buNone/>
            </a:pPr>
            <a:r>
              <a:rPr lang="en-GB" sz="1800" dirty="0" smtClean="0"/>
              <a:t>CMOS </a:t>
            </a:r>
            <a:r>
              <a:rPr lang="en-GB" sz="1800" dirty="0"/>
              <a:t>is the most widely used approach for implementing logic functions in modern integrated circuits and computer chips.</a:t>
            </a: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791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6850" y="233516"/>
            <a:ext cx="8472350" cy="2557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13162" y="2971800"/>
            <a:ext cx="6579725" cy="3295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2747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rgbClr val="FF0000"/>
                </a:solidFill>
              </a:rPr>
              <a:t>1) CMOS Inverter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/>
              <a:t>The NMOS transistor has an input from V</a:t>
            </a:r>
            <a:r>
              <a:rPr lang="en-GB" sz="2000" baseline="-25000" dirty="0"/>
              <a:t>SS</a:t>
            </a:r>
            <a:r>
              <a:rPr lang="en-GB" sz="2000" dirty="0"/>
              <a:t> or ground and the PMOS transistor has an input from V</a:t>
            </a:r>
            <a:r>
              <a:rPr lang="en-GB" sz="2000" baseline="-25000" dirty="0"/>
              <a:t>DD</a:t>
            </a:r>
            <a:r>
              <a:rPr lang="en-GB" sz="2000" dirty="0"/>
              <a:t>. </a:t>
            </a:r>
            <a:endParaRPr lang="en-GB" sz="2000" dirty="0" smtClean="0"/>
          </a:p>
          <a:p>
            <a:pPr algn="just"/>
            <a:r>
              <a:rPr lang="en-GB" sz="2000" dirty="0" smtClean="0"/>
              <a:t>When </a:t>
            </a:r>
            <a:r>
              <a:rPr lang="en-GB" sz="2000" dirty="0"/>
              <a:t>the input (A) is low (&lt;V</a:t>
            </a:r>
            <a:r>
              <a:rPr lang="en-GB" sz="2000" baseline="-25000" dirty="0"/>
              <a:t>DD</a:t>
            </a:r>
            <a:r>
              <a:rPr lang="en-GB" sz="2000" dirty="0"/>
              <a:t>, ~0 V, Logic 0), the NMOS is OFF while the PMOS is ON. V</a:t>
            </a:r>
            <a:r>
              <a:rPr lang="en-GB" sz="2000" baseline="-25000" dirty="0"/>
              <a:t>DD</a:t>
            </a:r>
            <a:r>
              <a:rPr lang="en-GB" sz="2000" dirty="0"/>
              <a:t> will appear at the output through the P-channel MOSFET path. </a:t>
            </a:r>
            <a:endParaRPr lang="en-GB" sz="2000" dirty="0" smtClean="0"/>
          </a:p>
          <a:p>
            <a:pPr algn="just"/>
            <a:r>
              <a:rPr lang="en-GB" sz="2000" dirty="0" smtClean="0"/>
              <a:t>Hence</a:t>
            </a:r>
            <a:r>
              <a:rPr lang="en-GB" sz="2000" dirty="0"/>
              <a:t>, there is output (Logic 1) with the circuit pulled up to V</a:t>
            </a:r>
            <a:r>
              <a:rPr lang="en-GB" sz="2000" baseline="-25000" dirty="0"/>
              <a:t>DD</a:t>
            </a:r>
            <a:r>
              <a:rPr lang="en-GB" sz="2000" dirty="0"/>
              <a:t>. When the input is high (~V</a:t>
            </a:r>
            <a:r>
              <a:rPr lang="en-GB" sz="2000" baseline="-25000" dirty="0"/>
              <a:t>DD</a:t>
            </a:r>
            <a:r>
              <a:rPr lang="en-GB" sz="2000" dirty="0"/>
              <a:t>, Logic 1), the PMOS is OFF while the NMOS is ON. The output is pulled down and is therefore low (Logic 0).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122" name="Picture 2" descr="what is CM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419600"/>
            <a:ext cx="6096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550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9439"/>
            <a:ext cx="8313979" cy="652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33600"/>
            <a:ext cx="1905000" cy="191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7542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599"/>
            <a:ext cx="8382000" cy="6434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9917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>
                <a:solidFill>
                  <a:srgbClr val="FF0000"/>
                </a:solidFill>
              </a:rPr>
              <a:t>Complex gates in CMOS logic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/>
              <a:t>A complex logic gate is one that implements a function that can provide the basic NOT, </a:t>
            </a:r>
            <a:r>
              <a:rPr lang="en-GB" sz="2000" dirty="0" smtClean="0"/>
              <a:t>AND &amp; </a:t>
            </a:r>
            <a:r>
              <a:rPr lang="en-GB" sz="2000" dirty="0"/>
              <a:t>OR </a:t>
            </a:r>
            <a:r>
              <a:rPr lang="en-GB" sz="2000" dirty="0" smtClean="0"/>
              <a:t>operations </a:t>
            </a:r>
            <a:r>
              <a:rPr lang="en-GB" sz="2000" dirty="0"/>
              <a:t>but integrates them into a single circuit. </a:t>
            </a:r>
            <a:endParaRPr lang="en-GB" sz="2000" dirty="0" smtClean="0"/>
          </a:p>
          <a:p>
            <a:pPr algn="just"/>
            <a:r>
              <a:rPr lang="en-GB" sz="2000" dirty="0" smtClean="0"/>
              <a:t>CMOS </a:t>
            </a:r>
            <a:r>
              <a:rPr lang="en-GB" sz="2000" dirty="0"/>
              <a:t>is ideally suited for </a:t>
            </a:r>
            <a:r>
              <a:rPr lang="en-GB" sz="2000" dirty="0" smtClean="0"/>
              <a:t>creating gates </a:t>
            </a:r>
            <a:r>
              <a:rPr lang="en-GB" sz="2000" dirty="0"/>
              <a:t>that have logic equations by exhibiting the following,</a:t>
            </a:r>
          </a:p>
          <a:p>
            <a:pPr lvl="1"/>
            <a:r>
              <a:rPr lang="en-IN" sz="1800" dirty="0"/>
              <a:t>1) AND-OR-INVERT - AOI form</a:t>
            </a:r>
          </a:p>
          <a:p>
            <a:pPr lvl="1"/>
            <a:r>
              <a:rPr lang="en-IN" sz="1800" dirty="0"/>
              <a:t>2) OR-AND-INVERT - OAI form</a:t>
            </a:r>
          </a:p>
          <a:p>
            <a:r>
              <a:rPr lang="en-GB" sz="2000" dirty="0"/>
              <a:t>An AOI logic equation is equivalent to a complemented SOP from, while </a:t>
            </a:r>
            <a:r>
              <a:rPr lang="en-GB" sz="2000"/>
              <a:t>an </a:t>
            </a:r>
            <a:r>
              <a:rPr lang="en-GB" sz="2000" smtClean="0"/>
              <a:t>OAI </a:t>
            </a:r>
            <a:r>
              <a:rPr lang="en-GB" sz="2000" dirty="0"/>
              <a:t>equation </a:t>
            </a:r>
            <a:r>
              <a:rPr lang="en-GB" sz="2000" dirty="0" smtClean="0"/>
              <a:t>is equivalent </a:t>
            </a:r>
            <a:r>
              <a:rPr lang="en-GB" sz="2000" dirty="0"/>
              <a:t>to a complemented POS </a:t>
            </a:r>
            <a:r>
              <a:rPr lang="en-GB" sz="2000" dirty="0" smtClean="0"/>
              <a:t>structure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889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>
                <a:solidFill>
                  <a:srgbClr val="00B050"/>
                </a:solidFill>
              </a:rPr>
              <a:t>Complex gates in CMOS logic</a:t>
            </a:r>
            <a:endParaRPr lang="en-IN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b="1" dirty="0">
                    <a:solidFill>
                      <a:srgbClr val="FF0000"/>
                    </a:solidFill>
                  </a:rPr>
                  <a:t>1) AOI Logic Function (OR) Design of XOR gate using CMOS logic.</a:t>
                </a:r>
              </a:p>
              <a:p>
                <a:pPr algn="just"/>
                <a:r>
                  <a:rPr lang="en-GB" sz="2000" dirty="0"/>
                  <a:t>AND-OR-INVERT logic function(AOI) implements operation in the </a:t>
                </a:r>
                <a:r>
                  <a:rPr lang="en-GB" sz="2000" dirty="0" smtClean="0"/>
                  <a:t>order </a:t>
                </a:r>
                <a:r>
                  <a:rPr lang="en-IN" sz="2000" dirty="0" smtClean="0"/>
                  <a:t>AND,OR,NOT</a:t>
                </a:r>
                <a:r>
                  <a:rPr lang="en-IN" sz="2000" dirty="0"/>
                  <a:t>. </a:t>
                </a:r>
                <a:endParaRPr lang="en-IN" sz="2000" dirty="0" smtClean="0"/>
              </a:p>
              <a:p>
                <a:pPr algn="just"/>
                <a:r>
                  <a:rPr lang="en-IN" sz="2000" dirty="0" smtClean="0"/>
                  <a:t>For example, </a:t>
                </a:r>
                <a:r>
                  <a:rPr lang="en-GB" sz="2000" dirty="0" smtClean="0"/>
                  <a:t>let </a:t>
                </a:r>
                <a:r>
                  <a:rPr lang="en-GB" sz="2000" dirty="0"/>
                  <a:t>us consider the function </a:t>
                </a:r>
                <a:endParaRPr lang="en-GB" sz="2000" dirty="0" smtClean="0"/>
              </a:p>
              <a:p>
                <a:pPr lvl="1" algn="just"/>
                <a:r>
                  <a:rPr lang="en-GB" sz="1800" dirty="0" smtClean="0"/>
                  <a:t>Y </a:t>
                </a:r>
                <a:r>
                  <a:rPr lang="en-GB" sz="1800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8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sz="1800" i="0" dirty="0">
                            <a:latin typeface="Cambria Math"/>
                          </a:rPr>
                          <m:t>AB</m:t>
                        </m:r>
                        <m:r>
                          <a:rPr lang="en-GB" sz="1800" i="0" dirty="0">
                            <a:latin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GB" sz="1800" i="0" dirty="0">
                            <a:latin typeface="Cambria Math"/>
                          </a:rPr>
                          <m:t>CD</m:t>
                        </m:r>
                      </m:e>
                    </m:acc>
                  </m:oMath>
                </a14:m>
                <a:r>
                  <a:rPr lang="en-GB" sz="1800" dirty="0"/>
                  <a:t> i.e., </a:t>
                </a:r>
                <a:endParaRPr lang="en-GB" sz="1800" dirty="0" smtClean="0"/>
              </a:p>
              <a:p>
                <a:pPr lvl="1" algn="just"/>
                <a:r>
                  <a:rPr lang="en-GB" sz="1800" dirty="0" smtClean="0"/>
                  <a:t>Y </a:t>
                </a:r>
                <a:r>
                  <a:rPr lang="en-GB" sz="1800" dirty="0"/>
                  <a:t>= NOT((A AND B)OR (C AND D))</a:t>
                </a:r>
              </a:p>
              <a:p>
                <a:r>
                  <a:rPr lang="en-GB" sz="2000" dirty="0"/>
                  <a:t>The AOI logic gate implementation for Y</a:t>
                </a:r>
                <a:endParaRPr lang="en-I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  <a:blipFill rotWithShape="1">
                <a:blip r:embed="rId2" cstate="print"/>
                <a:stretch>
                  <a:fillRect l="-741" t="-674" r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45252"/>
            <a:ext cx="6743700" cy="2705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720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399" y="0"/>
            <a:ext cx="8177214" cy="391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3924444"/>
            <a:ext cx="8177213" cy="247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76200" y="1295400"/>
            <a:ext cx="335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b="1" dirty="0"/>
              <a:t>NMOS in Series (AND logic):</a:t>
            </a:r>
            <a:r>
              <a:rPr lang="en-GB" dirty="0"/>
              <a:t> Equation: y = A AND </a:t>
            </a:r>
            <a:r>
              <a:rPr lang="en-GB" dirty="0" smtClean="0"/>
              <a:t>B =A.B</a:t>
            </a: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b="1" dirty="0"/>
              <a:t>NMOS in Parallel (OR logic):</a:t>
            </a:r>
            <a:r>
              <a:rPr lang="en-GB" dirty="0"/>
              <a:t> Equation: y = A OR </a:t>
            </a:r>
            <a:r>
              <a:rPr lang="en-GB" dirty="0" smtClean="0"/>
              <a:t>B =A+B</a:t>
            </a: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b="1" dirty="0"/>
              <a:t>PMOS in Series (OR logic):</a:t>
            </a:r>
            <a:r>
              <a:rPr lang="en-GB" dirty="0"/>
              <a:t> Equation: y = A OR </a:t>
            </a:r>
            <a:r>
              <a:rPr lang="en-GB" dirty="0" smtClean="0"/>
              <a:t>B =A+B</a:t>
            </a: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b="1" dirty="0"/>
              <a:t>PMOS in Parallel (AND logic):</a:t>
            </a:r>
            <a:r>
              <a:rPr lang="en-GB" dirty="0"/>
              <a:t> Equation: y = A AND </a:t>
            </a:r>
            <a:r>
              <a:rPr lang="en-GB" dirty="0" smtClean="0"/>
              <a:t>B =A.B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45437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24429"/>
            <a:ext cx="8849032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98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9814"/>
            <a:ext cx="8849032" cy="277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60000">
            <a:off x="1600200" y="3200400"/>
            <a:ext cx="621030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62440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40268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Step 5: </a:t>
            </a:r>
            <a:r>
              <a:rPr lang="en-GB" dirty="0"/>
              <a:t>Take output at the point in between nMOS and pMOS networks.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74132"/>
            <a:ext cx="5105400" cy="618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0628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b="1" dirty="0">
                    <a:solidFill>
                      <a:srgbClr val="FF0000"/>
                    </a:solidFill>
                  </a:rPr>
                  <a:t>2</a:t>
                </a:r>
                <a:r>
                  <a:rPr lang="en-GB" sz="2000" b="1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GB" sz="2000" b="1" dirty="0">
                    <a:solidFill>
                      <a:srgbClr val="FF0000"/>
                    </a:solidFill>
                  </a:rPr>
                  <a:t>OAI Logic Function (OR) Design of XNOR gate using CMOS logic.</a:t>
                </a:r>
              </a:p>
              <a:p>
                <a:pPr algn="just"/>
                <a:r>
                  <a:rPr lang="en-GB" sz="2000" dirty="0">
                    <a:latin typeface="+mj-lt"/>
                  </a:rPr>
                  <a:t>OR-AND-INVERT logic function(AOI) implements operation in the </a:t>
                </a:r>
                <a:r>
                  <a:rPr lang="en-GB" sz="2000" dirty="0" smtClean="0">
                    <a:latin typeface="+mj-lt"/>
                  </a:rPr>
                  <a:t>order </a:t>
                </a:r>
                <a:r>
                  <a:rPr lang="en-IN" sz="2000" dirty="0" smtClean="0">
                    <a:latin typeface="+mj-lt"/>
                  </a:rPr>
                  <a:t>OR,AND,NOT</a:t>
                </a:r>
                <a:r>
                  <a:rPr lang="en-IN" sz="2000" dirty="0">
                    <a:latin typeface="+mj-lt"/>
                  </a:rPr>
                  <a:t>. </a:t>
                </a:r>
                <a:endParaRPr lang="en-IN" sz="2000" dirty="0" smtClean="0">
                  <a:latin typeface="+mj-lt"/>
                </a:endParaRPr>
              </a:p>
              <a:p>
                <a:pPr algn="just"/>
                <a:r>
                  <a:rPr lang="en-IN" sz="2000" dirty="0" smtClean="0">
                    <a:latin typeface="+mj-lt"/>
                  </a:rPr>
                  <a:t>For </a:t>
                </a:r>
                <a:r>
                  <a:rPr lang="en-IN" sz="2000" dirty="0">
                    <a:latin typeface="+mj-lt"/>
                  </a:rPr>
                  <a:t>example </a:t>
                </a:r>
                <a:r>
                  <a:rPr lang="en-IN" sz="2000" dirty="0" smtClean="0">
                    <a:latin typeface="+mj-lt"/>
                  </a:rPr>
                  <a:t>, </a:t>
                </a:r>
                <a:r>
                  <a:rPr lang="en-GB" sz="2000" dirty="0" smtClean="0">
                    <a:latin typeface="+mj-lt"/>
                  </a:rPr>
                  <a:t>let </a:t>
                </a:r>
                <a:r>
                  <a:rPr lang="en-GB" sz="2000" dirty="0">
                    <a:latin typeface="+mj-lt"/>
                  </a:rPr>
                  <a:t>us consider the function </a:t>
                </a:r>
                <a:endParaRPr lang="en-GB" sz="2000" dirty="0" smtClean="0">
                  <a:latin typeface="+mj-lt"/>
                </a:endParaRPr>
              </a:p>
              <a:p>
                <a:pPr marL="457200" lvl="1" indent="0" algn="just">
                  <a:buNone/>
                </a:pPr>
                <a:r>
                  <a:rPr lang="en-GB" sz="2000" dirty="0" smtClean="0">
                    <a:latin typeface="+mj-lt"/>
                  </a:rPr>
                  <a:t>Y </a:t>
                </a:r>
                <a:r>
                  <a:rPr lang="en-GB" sz="2000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000" i="1" dirty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).(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GB" sz="2000" dirty="0">
                            <a:latin typeface="+mj-lt"/>
                          </a:rPr>
                          <m:t>)</m:t>
                        </m:r>
                      </m:e>
                    </m:acc>
                  </m:oMath>
                </a14:m>
                <a:r>
                  <a:rPr lang="en-GB" sz="2000" dirty="0">
                    <a:latin typeface="+mj-lt"/>
                  </a:rPr>
                  <a:t> </a:t>
                </a:r>
                <a:r>
                  <a:rPr lang="en-GB" sz="2000" dirty="0" smtClean="0">
                    <a:latin typeface="+mj-lt"/>
                  </a:rPr>
                  <a:t>i.e</a:t>
                </a:r>
                <a:r>
                  <a:rPr lang="en-GB" sz="2000" dirty="0">
                    <a:latin typeface="+mj-lt"/>
                  </a:rPr>
                  <a:t>., Y = NOT((A OR B)AND (C OR D</a:t>
                </a:r>
                <a:r>
                  <a:rPr lang="en-GB" sz="2000" dirty="0" smtClean="0">
                    <a:latin typeface="+mj-lt"/>
                  </a:rPr>
                  <a:t>))</a:t>
                </a:r>
              </a:p>
              <a:p>
                <a:pPr marL="354013" lvl="1" indent="-354013" algn="just">
                  <a:buFont typeface="Arial" pitchFamily="34" charset="0"/>
                  <a:buChar char="•"/>
                </a:pPr>
                <a:r>
                  <a:rPr lang="en-GB" sz="2000" dirty="0" smtClean="0">
                    <a:latin typeface="+mj-lt"/>
                  </a:rPr>
                  <a:t>The </a:t>
                </a:r>
                <a:r>
                  <a:rPr lang="en-GB" sz="2000" dirty="0">
                    <a:latin typeface="+mj-lt"/>
                  </a:rPr>
                  <a:t>OAI logic gate implementation for Y</a:t>
                </a:r>
                <a:endParaRPr lang="en-GB" sz="2000" dirty="0" smtClean="0">
                  <a:latin typeface="+mj-lt"/>
                </a:endParaRPr>
              </a:p>
              <a:p>
                <a:pPr marL="457200" lvl="1" indent="0" algn="just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4525963"/>
              </a:xfrm>
              <a:blipFill rotWithShape="1">
                <a:blip r:embed="rId2" cstate="print"/>
                <a:stretch>
                  <a:fillRect l="-741" t="-674" r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55374"/>
            <a:ext cx="7848600" cy="297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8637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71500"/>
            <a:ext cx="5294779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CMOS implementation for Y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8052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On-screen Show (4:3)</PresentationFormat>
  <Paragraphs>47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CMOS logic gate concept:</vt:lpstr>
      <vt:lpstr>Slide 2</vt:lpstr>
      <vt:lpstr>1) CMOS Inverter</vt:lpstr>
      <vt:lpstr>Slide 4</vt:lpstr>
      <vt:lpstr>Slide 5</vt:lpstr>
      <vt:lpstr>Complex gates in CMOS logic</vt:lpstr>
      <vt:lpstr>Complex gates in CMOS logic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logic gate concept:</dc:title>
  <dc:creator>hp</dc:creator>
  <cp:lastModifiedBy>hp</cp:lastModifiedBy>
  <cp:revision>1</cp:revision>
  <dcterms:created xsi:type="dcterms:W3CDTF">2006-08-16T00:00:00Z</dcterms:created>
  <dcterms:modified xsi:type="dcterms:W3CDTF">2025-10-19T12:25:35Z</dcterms:modified>
</cp:coreProperties>
</file>